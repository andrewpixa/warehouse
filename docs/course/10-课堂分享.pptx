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
  <Relationship Id="rId15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b="1" dirty="0">
                <a:solidFill>
                  <a:srgbClr val="C9A227"/>
                </a:solidFill>
                <a:latin typeface="PingFang SC"/>
                <a:ea typeface="PingFang SC"/>
              </a:rPr>
              <a:t>CLASS  ·  ARCHITECTURE  ·  DATABASE  ·  MODULES  ·  OPS</a:t>
            </a:r>
          </a:p>
        </a:txBody>
      </p:sp>
      <p:sp>
        <p:nvSpPr>
          <p:cNvPr id="3" name="t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4000" b="1" dirty="0">
                <a:solidFill>
                  <a:srgbClr val="F5F2EA"/>
                </a:solidFill>
                <a:latin typeface="PingFang SC"/>
                <a:ea typeface="PingFang SC"/>
              </a:rPr>
              <a:t>药企进销存</a:t>
            </a:r>
          </a:p>
          <a:p>
            <a:pPr algn="l">
              <a:spcAft>
                <a:spcPts val="1200"/>
              </a:spcAft>
            </a:pPr>
            <a:r>
              <a:rPr lang="zh-CN" sz="4000" b="1" dirty="0">
                <a:solidFill>
                  <a:srgbClr val="F5F2EA"/>
                </a:solidFill>
                <a:latin typeface="PingFang SC"/>
                <a:ea typeface="PingFang SC"/>
              </a:rPr>
              <a:t>课堂分享</a:t>
            </a:r>
          </a:p>
        </a:txBody>
      </p:sp>
      <p:sp>
        <p:nvSpPr>
          <p:cNvPr id="4" name="s"/>
          <p:cNvSpPr txBox="1"/>
          <p:nvPr/>
        </p:nvSpPr>
        <p:spPr>
          <a:xfrm>
            <a:off x="1005840" y="4206240"/>
            <a:ext cx="10058400" cy="10058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架构 → 库 / ER → 模块 → 部署运维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B/S  ·  批号库存  ·  追溯  ·  日清月结</a:t>
            </a:r>
          </a:p>
        </a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00  /  目录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今天按老师提纲讲四段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不报功能清单，把结构和账讲清楚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000" dirty="0">
                <a:solidFill>
                  <a:srgbClr val="F5F2EA"/>
                </a:solidFill>
                <a:latin typeface="PingFang SC"/>
                <a:ea typeface="PingFang SC"/>
              </a:rPr>
              <a:t>01  架构     谁访问谁，请求怎么落到库</a:t>
            </a:r>
          </a:p>
          <a:p>
            <a:pPr algn="l">
              <a:spcAft>
                <a:spcPts val="1200"/>
              </a:spcAft>
            </a:pPr>
            <a:r>
              <a:rPr lang="zh-CN" sz="2000" dirty="0">
                <a:solidFill>
                  <a:srgbClr val="F5F2EA"/>
                </a:solidFill>
                <a:latin typeface="PingFang SC"/>
                <a:ea typeface="PingFang SC"/>
              </a:rPr>
              <a:t>02  库 / ER  批号粒度，表怎么切</a:t>
            </a:r>
          </a:p>
          <a:p>
            <a:pPr algn="l">
              <a:spcAft>
                <a:spcPts val="1200"/>
              </a:spcAft>
            </a:pPr>
            <a:r>
              <a:rPr lang="zh-CN" sz="2000" dirty="0">
                <a:solidFill>
                  <a:srgbClr val="F5F2EA"/>
                </a:solidFill>
                <a:latin typeface="PingFang SC"/>
                <a:ea typeface="PingFang SC"/>
              </a:rPr>
              <a:t>03  模块     进、存、出、码、结账</a:t>
            </a:r>
          </a:p>
          <a:p>
            <a:pPr algn="l">
              <a:spcAft>
                <a:spcPts val="1200"/>
              </a:spcAft>
            </a:pPr>
            <a:r>
              <a:rPr lang="zh-CN" sz="2000" dirty="0">
                <a:solidFill>
                  <a:srgbClr val="F5F2EA"/>
                </a:solidFill>
                <a:latin typeface="PingFang SC"/>
                <a:ea typeface="PingFang SC"/>
              </a:rPr>
              <a:t>04  部署运维 怎么上线、备份、持续集成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02  /  14</a:t>
            </a:r>
          </a:p>
        </a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01  /  架构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先定系统是干什么的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药品流通进销存，不是门店收银台</a:t>
            </a:r>
          </a:p>
        </a:txBody>
      </p:sp>
      <p:sp>
        <p:nvSpPr>
          <p:cNvPr id="10" name="l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要回答的三句话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货在哪：某仓、某批、合格还是待验。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票开了没：出库单带发票号。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钱回来没：未回 / 部分 / 已回。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码能否按发票或 SPDID 查到。</a:t>
            </a:r>
          </a:p>
        </a:txBody>
      </p:sp>
      <p:sp>
        <p:nvSpPr>
          <p:cNvPr id="11" name="r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本期主链路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品种 / 供应商 / 客户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采购入库，确认后入账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批号库存 → 追溯码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销售出库，不足拒绝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医院收货 → 日清 / 月结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03  /  14</a:t>
            </a:r>
          </a:p>
        </a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01  /  架构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逻辑分层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客户端不碰库存 SQL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客户端    Vue 3 Web、uni-app X、Flutter、Electron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接入      Nginx：静态页走 / ，接口走 /warehouse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应用      Controller → Service 事务 → Mapper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横切      SA-Token 权限、操作日志 AOP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数据      MySQL pharma_ims；sys_* 与药企表同库分开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04  /  14</a:t>
            </a:r>
          </a:p>
        </a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01  /  架构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部署就三块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浏览器只认识 80 / 443</a:t>
            </a:r>
          </a:p>
        </a:txBody>
      </p:sp>
      <p:sp>
        <p:nvSpPr>
          <p:cNvPr id="10" name="a"/>
          <p:cNvSpPr txBox="1"/>
          <p:nvPr/>
        </p:nvSpPr>
        <p:spPr>
          <a:xfrm>
            <a:off x="640080" y="1554480"/>
            <a:ext cx="356616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Nginx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/  → 前端 dist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/warehouse → :8899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9AA0AB"/>
                </a:solidFill>
                <a:latin typeface="PingFang SC"/>
                <a:ea typeface="PingFang SC"/>
              </a:rPr>
              <a:t>生产再加 HTTPS</a:t>
            </a:r>
          </a:p>
        </a:txBody>
      </p:sp>
      <p:sp>
        <p:nvSpPr>
          <p:cNvPr id="11" name="b"/>
          <p:cNvSpPr txBox="1"/>
          <p:nvPr/>
        </p:nvSpPr>
        <p:spPr>
          <a:xfrm>
            <a:off x="4389120" y="1554480"/>
            <a:ext cx="356616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Spring Boot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JAR 听 8899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上下文 /warehouse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确认出入库开事务</a:t>
            </a:r>
          </a:p>
        </a:txBody>
      </p:sp>
      <p:sp>
        <p:nvSpPr>
          <p:cNvPr id="12" name="c"/>
          <p:cNvSpPr txBox="1"/>
          <p:nvPr/>
        </p:nvSpPr>
        <p:spPr>
          <a:xfrm>
            <a:off x="8138160" y="1554480"/>
            <a:ext cx="3383280" cy="45720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MySQL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库名 pharma_ims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档案 / 单据 / 库存 / 码</a:t>
            </a:r>
          </a:p>
          <a:p>
            <a:pPr algn="l">
              <a:spcAft>
                <a:spcPts val="1200"/>
              </a:spcAft>
            </a:pPr>
            <a:r>
              <a:rPr lang="zh-CN" sz="1500" dirty="0">
                <a:solidFill>
                  <a:srgbClr val="F5F2EA"/>
                </a:solidFill>
                <a:latin typeface="PingFang SC"/>
                <a:ea typeface="PingFang SC"/>
              </a:rPr>
              <a:t>备份 backup.sh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05  /  14</a:t>
            </a:r>
          </a:p>
        </a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02  /  库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账不是一个商品一个数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药品 × 仓库 × 批号 × 质量状态</a:t>
            </a:r>
          </a:p>
        </a:txBody>
      </p:sp>
      <p:sp>
        <p:nvSpPr>
          <p:cNvPr id="10" name="q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ctr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uk_batch_stocks (drug_id, warehouse_id, batch_no, quality_status)</a:t>
            </a:r>
          </a:p>
        </a:txBody>
      </p:sp>
      <p:sp>
        <p:nvSpPr>
          <p:cNvPr id="11" name="t"/>
          <p:cNvSpPr txBox="1"/>
          <p:nvPr/>
        </p:nvSpPr>
        <p:spPr>
          <a:xfrm>
            <a:off x="640080" y="3017520"/>
            <a:ext cx="10972800" cy="31089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进货确认：按入库数量加库存。草稿不动账。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出库确认：按批号减库存。不够就拒绝。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红冲：另开新单再加回，不改原蓝字。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升益：按实盘减账面的差额调整。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06  /  14</a:t>
            </a:r>
          </a:p>
        </a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02  /  ER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表按六层切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完整图画在网页 /design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档案    药品、客户、供应商、仓库、员工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进货    进货单 + 明细，含批号效期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出库    出库单 + 明细；发票号、红冲、回款、收货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库存    批号库存、升益单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追溯    追溯码、包装关联，靠 SPDID 对齐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结账    日清、月结快照，不挂单据外键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07  /  14</a:t>
            </a:r>
          </a:p>
        </a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02  /  ER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几条关系就够答辩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长文：docs/pharma-er-uml.md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供应商 1—N 进货单     一单一个上游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客户 1—N 出库单       一单一个医院或药店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进货/出库 1—N 明细    至少一行才能确认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明细 1—N 追溯码       逻辑外键 SPDID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红冲 N—1 原出库       original_invoice_no，不改原单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旧仓管 bus_*          按 SKU 扣库存，禁止混进药企图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08  /  14</a:t>
            </a:r>
          </a:p>
        </a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03  /  模块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sys 管人，bus 管货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每条线都是 Controller → Service → Mapper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系统    用户、角色、部门、菜单、日志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档案    品种、客户、供应商、仓库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进货    草稿、确认入库、发票查询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出库    开票出库、红冲、回款、收货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仓储    批号库存、盘点、调拨、升益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追溯    查码、扫码纠错、大码解析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结账 / 报表    日清、月结、进销分析、厂家流向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09  /  14</a:t>
            </a:r>
          </a:p>
        </a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03  /  模块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主链路压成一句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草稿不入账，确认才动库存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54480"/>
            <a:ext cx="10972800" cy="46634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200" b="1" dirty="0">
                <a:solidFill>
                  <a:srgbClr val="C9A227"/>
                </a:solidFill>
                <a:latin typeface="PingFang SC"/>
                <a:ea typeface="PingFang SC"/>
              </a:rPr>
              <a:t>进 → 入 → 存 → 出 → 扣 → 收 → 清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采购开草稿 → 仓管确认 → 批号库存 → 销售开票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F5F2EA"/>
                </a:solidFill>
                <a:latin typeface="PingFang SC"/>
                <a:ea typeface="PingFang SC"/>
              </a:rPr>
              <a:t>确认出库 → 医院签收 → 日清月结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库存不足：确认失败，草稿可删。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收货重复提交：拒绝。红冲是新单。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10  /  14</a:t>
            </a:r>
          </a:p>
        </a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04  /  部署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上线按这个顺序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先备份，再换包，最后巡检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1  备份    deploy/backup.sh 压一份 sql.gz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2  后端    mvn 打 JAR，重启 8899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3  前端    npm run build，覆盖 Nginx dist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4  冒烟    登录 → 批号库存 → 一张草稿出入库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5  回滚    换回上一版 JAR / dist，或 restore.sh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11  /  14</a:t>
            </a:r>
          </a:p>
        </a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04  /  运维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日常三件事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脚本在 deploy/，口令只走环境变量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备份    每天 mysqldump，保留 14 份，不放 Web 根目录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巡检    首页 200、公钥接口、Java/Nginx、磁盘、备份是否过期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生产    备案域名 + HTTPS + 岗位账号</a:t>
            </a:r>
          </a:p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不能当交付    公网 IP + admin/123456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12  /  14</a:t>
            </a:r>
          </a:p>
        </a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256032"/>
            <a:ext cx="10972800" cy="292608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200" b="1" dirty="0">
                <a:solidFill>
                  <a:srgbClr val="C9A227"/>
                </a:solidFill>
                <a:latin typeface="PingFang SC"/>
                <a:ea typeface="PingFang SC"/>
              </a:rPr>
              <a:t>04  /  CI</a:t>
            </a:r>
          </a:p>
        </a:txBody>
      </p:sp>
      <p:sp>
        <p:nvSpPr>
          <p:cNvPr id="3" name="title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2600" b="1" dirty="0">
                <a:solidFill>
                  <a:srgbClr val="F5F2EA"/>
                </a:solidFill>
                <a:latin typeface="PingFang SC"/>
                <a:ea typeface="PingFang SC"/>
              </a:rPr>
              <a:t>持续集成：推代码就自动验</a:t>
            </a:r>
          </a:p>
        </a:txBody>
      </p:sp>
      <p:sp>
        <p:nvSpPr>
          <p:cNvPr id="4" name="sub"/>
          <p:cNvSpPr txBox="1"/>
          <p:nvPr/>
        </p:nvSpPr>
        <p:spPr>
          <a:xfrm>
            <a:off x="640080" y="987552"/>
            <a:ext cx="10972800" cy="32004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300" dirty="0">
                <a:solidFill>
                  <a:srgbClr val="9AA0AB"/>
                </a:solidFill>
                <a:latin typeface="PingFang SC"/>
                <a:ea typeface="PingFang SC"/>
              </a:rPr>
              <a:t>不是“网站已经打开”</a:t>
            </a:r>
          </a:p>
        </a:txBody>
      </p:sp>
      <p:sp>
        <p:nvSpPr>
          <p:cNvPr id="10" name="b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文件    .github/workflows/ci.yml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触发    push、Pull Request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后端    mvn -DskipTests=false test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F5F2EA"/>
                </a:solidFill>
                <a:latin typeface="PingFang SC"/>
                <a:ea typeface="PingFang SC"/>
              </a:rPr>
              <a:t>前端    npm ci &amp;&amp; npm run build</a:t>
            </a:r>
          </a:p>
          <a:p>
            <a:pPr algn="l">
              <a:spcAft>
                <a:spcPts val="1200"/>
              </a:spcAft>
            </a:pPr>
            <a:r>
              <a:rPr lang="zh-CN" sz="1800" b="1" dirty="0">
                <a:solidFill>
                  <a:srgbClr val="C9A227"/>
                </a:solidFill>
                <a:latin typeface="PingFang SC"/>
                <a:ea typeface="PingFang SC"/>
              </a:rPr>
              <a:t>CI 发现有人把主分支弄坏；发布仍是手工。</a:t>
            </a:r>
          </a:p>
        </a:txBody>
      </p:sp>
      <p:sp>
        <p:nvSpPr>
          <p:cNvPr id="90" name="foot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100" dirty="0">
                <a:solidFill>
                  <a:srgbClr val="9AA0AB"/>
                </a:solidFill>
                <a:latin typeface="PingFang SC"/>
                <a:ea typeface="PingFang SC"/>
              </a:rPr>
              <a:t>药企进销存  ·  课堂分享</a:t>
            </a:r>
          </a:p>
        </a:txBody>
      </p:sp>
      <p:sp>
        <p:nvSpPr>
          <p:cNvPr id="91" name="num"/>
          <p:cNvSpPr txBox="1"/>
          <p:nvPr/>
        </p:nvSpPr>
        <p:spPr>
          <a:xfrm>
            <a:off x="9509760" y="6446520"/>
            <a:ext cx="2011680" cy="2743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r">
              <a:spcAft>
                <a:spcPts val="1200"/>
              </a:spcAft>
            </a:pPr>
            <a:r>
              <a:rPr lang="zh-CN" sz="1100" b="1" dirty="0">
                <a:solidFill>
                  <a:srgbClr val="C9A227"/>
                </a:solidFill>
                <a:latin typeface="PingFang SC"/>
                <a:ea typeface="PingFang SC"/>
              </a:rPr>
              <a:t>13  /  14</a:t>
            </a:r>
          </a:p>
        </a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400" b="1" dirty="0">
                <a:solidFill>
                  <a:srgbClr val="C9A227"/>
                </a:solidFill>
                <a:latin typeface="PingFang SC"/>
                <a:ea typeface="PingFang SC"/>
              </a:rPr>
              <a:t>要看图，打开网页</a:t>
            </a:r>
          </a:p>
        </a:txBody>
      </p:sp>
      <p:sp>
        <p:nvSpPr>
          <p:cNvPr id="3" name="t"/>
          <p:cNvSpPr txBox="1"/>
          <p:nvPr/>
        </p:nvSpPr>
        <p:spPr>
          <a:xfrm>
            <a:off x="1005840" y="2468880"/>
            <a:ext cx="10058400" cy="137160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3200" b="1" dirty="0">
                <a:solidFill>
                  <a:srgbClr val="F5F2EA"/>
                </a:solidFill>
                <a:latin typeface="PingFang SC"/>
                <a:ea typeface="PingFang SC"/>
              </a:rPr>
              <a:t>localhost:8888/design</a:t>
            </a:r>
          </a:p>
          <a:p>
            <a:pPr algn="l">
              <a:spcAft>
                <a:spcPts val="1200"/>
              </a:spcAft>
            </a:pPr>
            <a:r>
              <a:rPr lang="zh-CN" sz="1800" dirty="0">
                <a:solidFill>
                  <a:srgbClr val="9AA0AB"/>
                </a:solidFill>
                <a:latin typeface="PingFang SC"/>
                <a:ea typeface="PingFang SC"/>
              </a:rPr>
              <a:t>未登录也能看齐 ER / 用例 / 时序</a:t>
            </a:r>
          </a:p>
        </a:txBody>
      </p:sp>
      <p:sp>
        <p:nvSpPr>
          <p:cNvPr id="4" name="s"/>
          <p:cNvSpPr txBox="1"/>
          <p:nvPr/>
        </p:nvSpPr>
        <p:spPr>
          <a:xfrm>
            <a:off x="1005840" y="4297680"/>
            <a:ext cx="10058400" cy="1188720"/>
          </a:xfrm>
          <a:prstGeom prst="rect">
            <a:avLst/>
          </a:prstGeom>
          <a:noFill/>
          <a:ln>
            <a:noFill/>
          </a:ln>
        </p:spPr>
        <a:txBody>
          <a:bodyPr wrap="square"/>
          <a:lstStyle/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短文：docs/course/技术选型.md、架构设计.md</a:t>
            </a:r>
          </a:p>
          <a:p>
            <a:pPr algn="l">
              <a:spcAft>
                <a:spcPts val="1200"/>
              </a:spcAft>
            </a:pPr>
            <a:r>
              <a:rPr lang="zh-CN" sz="1600" dirty="0">
                <a:solidFill>
                  <a:srgbClr val="9AA0AB"/>
                </a:solidFill>
                <a:latin typeface="PingFang SC"/>
                <a:ea typeface="PingFang SC"/>
              </a:rPr>
              <a:t>运维：deploy/ 与 docs/delivery/05-运维交付包.md</a:t>
            </a:r>
          </a:p>
        </a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arma">
  <a:themeElements>
    <a:clrScheme name="Pharma">
      <a:dk1>
        <a:srgbClr val="0B0D12"/>
      </a:dk1>
      <a:lt1>
        <a:srgbClr val="F5F2EA"/>
      </a:lt1>
      <a:dk2>
        <a:srgbClr val="161A22"/>
      </a:dk2>
      <a:lt2>
        <a:srgbClr val="E8D58A"/>
      </a:lt2>
      <a:accent1>
        <a:srgbClr val="C9A227"/>
      </a:accent1>
      <a:accent2>
        <a:srgbClr val="C41E3A"/>
      </a:accent2>
      <a:accent3>
        <a:srgbClr val="3D7A5A"/>
      </a:accent3>
      <a:accent4>
        <a:srgbClr val="9AA0AB"/>
      </a:accent4>
      <a:accent5>
        <a:srgbClr val="C9A227"/>
      </a:accent5>
      <a:accent6>
        <a:srgbClr val="C41E3A"/>
      </a:accent6>
      <a:hlink>
        <a:srgbClr val="C9A227"/>
      </a:hlink>
      <a:folHlink>
        <a:srgbClr val="E8D58A"/>
      </a:folHlink>
    </a:clrScheme>
    <a:fontScheme name="Pharma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Pharm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